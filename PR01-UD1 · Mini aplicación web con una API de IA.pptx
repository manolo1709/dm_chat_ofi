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reto: una aplicación muy pequeña con dos formas de desarrollo. Grupos de 2–3 salvo excepciones autorizadas. Unas 4 horas presenciales de orientación y seguimiento más trabajo autónomo. Fechas y defensa pendientes de concretar en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complejidad está en recorrer el proceso completo con rigor, no en añadir funcionalidad. App 1 es manual e incremental. App 2 parte de especificaciones y se implementa con IA. Las excepciones solo afectan a la agrupación, nunca al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Una llamada a IA por envío válido. Entrada, espera, resultado y error comparten la pantalla. Puede repetirse el envío sin acumular datos. Sin chat con memoria, agentes encadenados, archivos, RAG o proveedores múltiples.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Incluye SQL, NoSQL, SQLite, bases vectoriales o en memoria, archivos de datos, almacenamiento remoto, cachés, localStorage, sessionStorage e IndexedDB para solicitudes y resultados. Clerk solo aporta identidad externa. Estado transitorio del formulario en memoria sí es necesario. No se registran textos, respuestas ni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grupo elige una sola idea. También sirve adaptar un texto a un nivel de lectura. Definir usuario y utilidad en una frase. Si necesita base de datos o más pantallas, se reformula. No construir una plataforma o chatbot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Usuario completa el único formulario. Frontend envía HTTP/JSON a FastAPI. FastAPI valida y llama a una única API IA con clave privada. Recibe respuesta, devuelve JSON y frontend lo muestra. El proveedor puede devolver texto: JSON es el contrato entre backend y frontend. No hay persistencia ni conexión directa navegador–IA.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Infografía conceptual: frontend, FastAPI y API IA. La flecha de vuelta JSON corresponde al contrato backend/frontend. Una petición al proveedor por envío válido. La imagen no sustituye al diagrama de arquitectura editable de la diapositiva anterior.</a:t>
            </a:r>
          </a:p>
          <a:p>
            <a:r>
              <a:t>Imagen raster generada con la herramienta integrada ImageGen. Perspectiva isométrica y proporción 1:1. Paleta adaptada a Estilo Fran.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Proveedor posible: OpenAI/ChatGPT, Claude, Gemini, OpenRouter u otro. Documentar modelo y versiones. La clave IA es exclusiva del backend. No es necesario que la IA produzca JSON: FastAPI puede envolver texto en el esquema de respuesta.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App 2 empieza después de terminar App 1. Carpeta vacía y dependencias propias, dentro del repositorio del grupo. Reutilizar conocimiento y requisitos es válido, copiar la implementación no demuestra un proyecto nuevo. No ampliar funcionalidad.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Comparación conceptual, sin afirmar que un método sea más rápido o mejor. App 2 empieza desde cero después de App 1. La equivalencia se comprueba con los mismos escenarios base. Clerk es una diferencia documentada en App 2.</a:t>
            </a:r>
          </a:p>
          <a:p>
            <a:r>
              <a:t>Imagen raster generada con la herramienta integrada ImageGen. Perspectiva isométrica y proporción 1:1. Paleta adaptada a Estilo Fran.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Primero backend que permita observar texto o JSON. El final siempre devuelve JSON. Separar cliente IA para permitir mocks. Construir frontend simple antes de mejorar su aspecto. Registrar decisiones y commits. App 1 permite documentación y explicaciones puntuales, no delegación integral del proyecto a un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Ejemplo POST /api/procesar con {texto: ...} y {resultado: ...}. Acordar códigos 200, 422, 502, 504 y 401 en App 2, según el contrato real. No exponer stack traces ni claves. Mostrar la salida como texto no ejecutable. Evitar envíos duplicados durante la espera.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pytest verifica código HTTP, JSON y si se llamó al mock. Caso en el límite y fuera de él. Considerar respuesta externa inválida si aplica. Prueba real manual/separada con datos ficticios. No comparar frases exactas de un modelo real. En App 2 añadir token ausente, inválido y acceso correcto sin llamar a IA en rechazo.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real: plantillaERS.md adjunta recuperada de la conversación. Mantener estructura, completar lo aplicable y eliminar ejemplos/marcadores. Fichas completas por RF. Sección 5.1 aplica a datos transitorios aunque no haya BD. No inventar administradores, reservas o registros. Spec Kit no sustituye la ERS académica. Revisar App 2 para Clerk.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flowchart de arquitectura no es UML formal. Secuencia suele ser útil para mostrar validación, llamada y retorno. Actividad es opcional si aporta algo distinto. Evitar clases o entidad-relación artificiales. La sección 8 de la plantilla debe cubrir todos los RF y RNF mediante tests, inspección o demo.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exigir número artificial de commits. Backend inicial, JSON, tests, frontend, integración, Tailwind, Vercel, especificación, App 2, Clerk, Docker y AWS deben verse en evolución. Especificación anterior al código App 2. Se recomienda app1/, app2/, docs/, infra/ y presentacion/. Coautoría para trabajo en pareja.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Clerk publishable puede ser pública, secret no. .env.example usa valores ficticios. Excluir .env, claves SSH, credenciales AWS y tokens en Git y Docker. Si hay filtración, revocar/rotar y revisar historial. Datos ficticios. Fijar dependencias y bloquear versiones. CORS, HTTPS y autenticación cumplen funciones distintas.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Serverless significa ejecución gestionada por petición, sin administrar un servidor permanente. App 1 y App 2: raíz frontend y backend separadas. Exportar app en main.py compatible y declarar dependencias. Variable pública URL backend, clave IA solo backend. Registrar URLs y commit. Ampliación opcional: comparar otra infraestructura, sin sustituir Vercel ni ampliar funciones. Fuente: https://vercel.com/docs/frameworks/backend/fastapi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 orientativa: npm install -g vercel, vercel --version, vercel login, vercel link, vercel env add AI_API_KEY, vercel deploy y vercel deploy --prod. Configuración local/remota debe coincidir. Valores secretos mediante entrada interactiva. Verificar orígenes, preflight y Authorization para App 2. Cambios de variables pueden requerir nuevo despliegue. Fuentes: https://vercel.com/docs/cli y https://vercel.com/docs/environment-variables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GitHub Spec Kit oficial, registrar versión e integración del agente. Flujo habitual: constitution, specify, clarify, plan, tasks, analyze, implement. Son comandos del agente según integración. Versionar artefactos y decisiones antes de implementar. Si la IA propone base de datos o más pantallas, corregir spec y plan. Fuente: https://github.com/github/spec-kit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rutas de login o registro, perfiles, usuarios propios ni BD. Configurar SDK compatible y orígenes. Verificar firma, emisor, caducidad y audiencia/orígenes según configuración, no solo decodificar. La sesión técnica externa no autoriza persistir datos funcionales. Publicable en frontend, secretos backend. Probar acceso directo al endpoint. Fuentes: https://clerk.com/docs/guides/sessions/session-tokens y https://clerk.com/docs/guides/sessions/manual-jwt-verification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mismos escenarios base. Separar esfuerzo Clerk e infraestructura del tiempo de implementación base. Registrar datos reales o estimaciones marcadas. No presuponer App 2 superior. Documentar una propuesta aceptada, una rechazada y por qué si existen. Evitar comparaciones solo subjetivas.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Instalar Docker. Backend con Uvicorn en 0.0.0.0. Frontend estático y proxy si conviene. .dockerignore. No BD, cachés o volúmenes de datos funcionales. Build, up -d, ps, logs y down. URL interna backend no accesible desde navegador. Variables Vite de build requieren reconstruir al cambiar. Probar de forma limpia y después de reinicio.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Despliegue obligatorio App 2. Confirmar acceso AWS/DNS y presupuesto docente. Docker/Compose, proxy TLS y contenedores. Secretos fuera de repo con permisos. No ECS, EKS, RDS o balanceador requerido. No tokens por HTTP. Documentar región/tamaño/versión, reinicio y actualización. Detener/retirar recursos tras revisión según docente, incluyendo discos/IPs facturables. Fuente: https://docs.aws.amazon.com/AWSEC2/latest/UserGuide/ec2-security-groups.html</a:t>
            </a:r>
          </a:p>
          <a:p>
            <a:r>
              <a:t>Imagen isométrica 1:1 generada con ImageGen. Representación conceptual raster. Prompts: infografias/prompts-adicionales.md.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Esquema conceptual simplificado de una única instancia EC2 con contenedores frontend/backend. El proxy/TLS y Clerk se explican en el enunciado y la diapositiva anterior. La figura destaca el flujo de app y no pretende enumerar todos los servicios externos de identidad.</a:t>
            </a:r>
          </a:p>
          <a:p>
            <a:r>
              <a:t>Imagen raster generada con la herramienta integrada ImageGen. Perspectiva isométrica y proporción 1:1. Paleta adaptada a Estilo Fran.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Previsiblemente Moodle, fecha y canal finales anunciados por docente. Acceso docente antes de defensa. README reproducible, proceso, uso IA, pruebas, despliegues y evidencias sin secretos. ZIP si se solicita no sustituye historial. El PowerPoint explicativo de Fran no reemplaza el PowerPoint del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Pesos proporcionados por Fran, total 100%. Rúbrica detallada en el Markdown. Excelente 100% del peso, adecuado 75%, en desarrollo 50%, insuficiente 25%, ausente 0%. Nota /10 = suma de peso por factor /10. El alcance es requisito obligatorio. Añadir complejidad no aporta puntos. Defensa individual y contribuciones complementan evidencias grupales.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Propuesta 8–10 minutos más preguntas, docente concreta duración. Todos participan y deben explicar el flujo. Datos ficticios. Evidencia de respaldo ante caída, identificada como captura/grabación. No presentar mocks como proveedor real. Preguntar dónde vive clave, qué comprueba mock, cómo validar token y qué corrigieron de la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con checklist del enunciado. Grupos 2–3, 4h presenciales orientativas más autónomo. Fechas, duración y accesos pendientes de concretar. Los bloques son obligatorios salvo la comparación de infraestructura marcada como ampliación. El objetivo es un proceso pequeño, completo y defendible.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de la explicación. Consultar el enunciado para la rúbrica completa y el checklist de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EED71D9-2FE6-487B-954A-04B6843D6464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FE27975-8EBE-4C02-9B66-C43CFAE3D452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 / 30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FD40A6-AD41-4450-AA93-3CBC0F973B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39052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1648B1-1461-437B-8A4F-6954392ECF2F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2100" b="0" dirty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</a:t>
            </a:r>
            <a:r>
              <a:rPr lang="es-ES" sz="2100" b="0" dirty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urso de Especialización. </a:t>
            </a:r>
            <a:r>
              <a:rPr lang="es-ES" sz="2100" dirty="0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Aprendizaje automático: gestión de datos y entrenamiento</a:t>
            </a:r>
            <a:endParaRPr sz="2100" b="0" dirty="0">
              <a:solidFill>
                <a:srgbClr val="FFFFFF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6EFA4C0-581E-488D-AEE7-E42116B5CB65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53750" cy="220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575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4575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Práctica UD1</a:t>
            </a:r>
          </a:p>
          <a:p>
            <a:pPr>
              <a:buNone/>
              <a:defRPr sz="4575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4575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Mini aplicación web</a:t>
            </a:r>
          </a:p>
          <a:p>
            <a:pPr>
              <a:buNone/>
              <a:defRPr sz="4575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4575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con 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EA7AE9D-5F7C-40A4-894D-7481EEFCD8F3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1085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Módulo</a:t>
            </a:r>
            <a:r>
              <a:rPr sz="27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de </a:t>
            </a:r>
            <a:r>
              <a:rPr lang="es-ES" sz="27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Desarrollo de Componentes Software</a:t>
            </a:r>
            <a:endParaRPr sz="27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39F3043-C002-4276-9140-500B7B465155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555555"/>
                </a:solidFill>
                <a:latin typeface="Oswald"/>
                <a:ea typeface="Oswald"/>
                <a:cs typeface="Oswald"/>
              </a:defRPr>
            </a:pPr>
            <a:r>
              <a:t>Grupos de 2–3 · 4 h presenciales orientativas + trabajo autónomo</a:t>
            </a:r>
          </a:p>
        </p:txBody>
      </p:sp>
    </p:spTree>
    <p:extLst>
      <p:ext uri="{BB962C8B-B14F-4D97-AF65-F5344CB8AC3E}">
        <p14:creationId xmlns:p14="http://schemas.microsoft.com/office/powerpoint/2010/main" val="10127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El objetivo de la práctica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3FB4B19-0290-4EB8-B71C-BF96418B3DA6}"/>
              </a:ext>
            </a:extLst>
          </p:cNvPr>
          <p:cNvSpPr>
            <a:spLocks noGrp="1"/>
          </p:cNvSpPr>
          <p:nvPr/>
        </p:nvSpPr>
        <p:spPr>
          <a:xfrm>
            <a:off x="533400" y="1714500"/>
            <a:ext cx="11125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0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40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Una necesidad real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199FDD5-EACD-4DB6-8FAF-E12E4436AD2A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Dos </a:t>
            </a:r>
            <a:r>
              <a:rPr sz="27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aplicaciones</a:t>
            </a:r>
            <a:r>
              <a:rPr sz="27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7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equivalentes</a:t>
            </a:r>
            <a:endParaRPr sz="27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AFA1AD9-D4B4-451E-BE2D-8E23626C5E1B}"/>
              </a:ext>
            </a:extLst>
          </p:cNvPr>
          <p:cNvSpPr>
            <a:spLocks noGrp="1"/>
          </p:cNvSpPr>
          <p:nvPr/>
        </p:nvSpPr>
        <p:spPr>
          <a:xfrm>
            <a:off x="533400" y="371475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Un proceso que todos puedan explicar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82E4D4-D4B6-4574-9A69-8F088D55C25A}"/>
              </a:ext>
            </a:extLst>
          </p:cNvPr>
          <p:cNvSpPr>
            <a:spLocks noGrp="1"/>
          </p:cNvSpPr>
          <p:nvPr/>
        </p:nvSpPr>
        <p:spPr>
          <a:xfrm>
            <a:off x="533400" y="5143500"/>
            <a:ext cx="52197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2–3 integrantes por grupo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4E94412-E39E-4C3C-8BA1-A74D1AA54279}"/>
              </a:ext>
            </a:extLst>
          </p:cNvPr>
          <p:cNvSpPr>
            <a:spLocks noGrp="1"/>
          </p:cNvSpPr>
          <p:nvPr/>
        </p:nvSpPr>
        <p:spPr>
          <a:xfrm>
            <a:off x="6267450" y="5143500"/>
            <a:ext cx="53911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4 h presenciales + trabajo autónomo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Una app extremadamente simple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3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1319163-A162-4EF1-8202-4081A7DD6F2C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5429250" cy="1857375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3FEF798-95EE-42EB-AF37-CF325F019C56}"/>
              </a:ext>
            </a:extLst>
          </p:cNvPr>
          <p:cNvSpPr>
            <a:spLocks noGrp="1"/>
          </p:cNvSpPr>
          <p:nvPr/>
        </p:nvSpPr>
        <p:spPr>
          <a:xfrm>
            <a:off x="771525" y="19526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9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1 pantalla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8931872-E446-48D1-BDB4-B800ED5B4414}"/>
              </a:ext>
            </a:extLst>
          </p:cNvPr>
          <p:cNvSpPr>
            <a:spLocks noGrp="1"/>
          </p:cNvSpPr>
          <p:nvPr/>
        </p:nvSpPr>
        <p:spPr>
          <a:xfrm>
            <a:off x="6229350" y="1619250"/>
            <a:ext cx="5429250" cy="1857375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B3EC535-8D0B-4DFB-9EB1-663AD9364C1F}"/>
              </a:ext>
            </a:extLst>
          </p:cNvPr>
          <p:cNvSpPr>
            <a:spLocks noGrp="1"/>
          </p:cNvSpPr>
          <p:nvPr/>
        </p:nvSpPr>
        <p:spPr>
          <a:xfrm>
            <a:off x="6467475" y="19526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9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1 formulario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E482DA9-C676-498F-835D-53B553408463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5429250" cy="1857375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00D5FB-C59A-42A1-9EC7-BA6C0C23F896}"/>
              </a:ext>
            </a:extLst>
          </p:cNvPr>
          <p:cNvSpPr>
            <a:spLocks noGrp="1"/>
          </p:cNvSpPr>
          <p:nvPr/>
        </p:nvSpPr>
        <p:spPr>
          <a:xfrm>
            <a:off x="771525" y="40862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9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1 API de IA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5D88BCD-BF90-416F-B889-1F1E98828F71}"/>
              </a:ext>
            </a:extLst>
          </p:cNvPr>
          <p:cNvSpPr>
            <a:spLocks noGrp="1"/>
          </p:cNvSpPr>
          <p:nvPr/>
        </p:nvSpPr>
        <p:spPr>
          <a:xfrm>
            <a:off x="6229350" y="3752850"/>
            <a:ext cx="5429250" cy="1857375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7AA4664-A789-45CC-9169-29C6726761BD}"/>
              </a:ext>
            </a:extLst>
          </p:cNvPr>
          <p:cNvSpPr>
            <a:spLocks noGrp="1"/>
          </p:cNvSpPr>
          <p:nvPr/>
        </p:nvSpPr>
        <p:spPr>
          <a:xfrm>
            <a:off x="6467475" y="408622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975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3975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1 resultado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695E52-7F59-411F-AA2D-DFB1321D3B63}"/>
              </a:ext>
            </a:extLst>
          </p:cNvPr>
          <p:cNvSpPr>
            <a:spLocks noGrp="1"/>
          </p:cNvSpPr>
          <p:nvPr/>
        </p:nvSpPr>
        <p:spPr>
          <a:xfrm>
            <a:off x="533400" y="5953125"/>
            <a:ext cx="11125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Interacción mínima en ambas aplicaciones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Prohibido, sin excepciones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4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715192B-C4DD-4661-923B-A853CDBCFB6B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8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Bases de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datos</a:t>
            </a: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y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persistencia</a:t>
            </a: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de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datos</a:t>
            </a:r>
            <a:endParaRPr sz="285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DBE3E1F-ADBB-4FF1-8050-66868D4514B9}"/>
              </a:ext>
            </a:extLst>
          </p:cNvPr>
          <p:cNvSpPr>
            <a:spLocks noGrp="1"/>
          </p:cNvSpPr>
          <p:nvPr/>
        </p:nvSpPr>
        <p:spPr>
          <a:xfrm>
            <a:off x="533400" y="28670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8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CRUD,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paneles</a:t>
            </a: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y dashboards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321E88B-AEF5-41DD-A66C-95CCC793F375}"/>
              </a:ext>
            </a:extLst>
          </p:cNvPr>
          <p:cNvSpPr>
            <a:spLocks noGrp="1"/>
          </p:cNvSpPr>
          <p:nvPr/>
        </p:nvSpPr>
        <p:spPr>
          <a:xfrm>
            <a:off x="533400" y="37814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8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Más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pantallas</a:t>
            </a: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, vistas o </a:t>
            </a:r>
            <a:r>
              <a:rPr sz="285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rutas</a:t>
            </a:r>
            <a:r>
              <a:rPr sz="285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frontend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55B82C1-68B9-47C0-9470-A163E4932F54}"/>
              </a:ext>
            </a:extLst>
          </p:cNvPr>
          <p:cNvSpPr>
            <a:spLocks noGrp="1"/>
          </p:cNvSpPr>
          <p:nvPr/>
        </p:nvSpPr>
        <p:spPr>
          <a:xfrm>
            <a:off x="533400" y="46958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85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85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Usuarios propios y funciones adicionales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F6988D5-0C88-873E-BD97-58431F7F7357}"/>
              </a:ext>
            </a:extLst>
          </p:cNvPr>
          <p:cNvSpPr txBox="1"/>
          <p:nvPr/>
        </p:nvSpPr>
        <p:spPr>
          <a:xfrm>
            <a:off x="7600334" y="2271712"/>
            <a:ext cx="4210665" cy="3019425"/>
          </a:xfrm>
          <a:prstGeom prst="rect">
            <a:avLst/>
          </a:prstGeom>
          <a:solidFill>
            <a:srgbClr val="00B0F0"/>
          </a:solidFill>
        </p:spPr>
        <p:txBody>
          <a:bodyPr wrap="square" rtlCol="0" anchor="ctr">
            <a:normAutofit/>
          </a:bodyPr>
          <a:lstStyle/>
          <a:p>
            <a:pPr marL="101600" algn="ctr"/>
            <a:r>
              <a:rPr lang="es-ES" sz="4000" b="1" dirty="0">
                <a:solidFill>
                  <a:schemeClr val="bg1"/>
                </a:solidFill>
                <a:latin typeface="Oswald"/>
                <a:ea typeface="Oswald"/>
                <a:cs typeface="Oswald"/>
              </a:rPr>
              <a:t>Aplicación muy sencilla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Ideas pequeñas y útiles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5 / 30</a:t>
            </a:r>
          </a:p>
        </p:txBody>
      </p:sp>
      <p:graphicFrame>
        <p:nvGraphicFramePr>
          <p:cNvPr id="22" name="Tabla 21"/>
          <p:cNvGraphicFramePr/>
          <p:nvPr/>
        </p:nvGraphicFramePr>
        <p:xfrm>
          <a:off x="533400" y="1971675"/>
          <a:ext cx="11125200" cy="32385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Entrada breve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Resultado único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Apuntes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Resumen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Mensaje ficticio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Categoría y explicación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Párrafo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Corrección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Apuntes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Preguntas de estudio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79BAB0EB-E086-4C79-8D24-9F5FED4CA7A5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11252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7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El grupo elige una sola idea útil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Arquitectura obligatoria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6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9301515-5BF4-4F2E-9C64-9C249A57DF39}"/>
              </a:ext>
            </a:extLst>
          </p:cNvPr>
          <p:cNvSpPr>
            <a:spLocks noGrp="1"/>
          </p:cNvSpPr>
          <p:nvPr/>
        </p:nvSpPr>
        <p:spPr>
          <a:xfrm>
            <a:off x="533400" y="1600200"/>
            <a:ext cx="111252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Una solicitud válida recorre estas cuatro piezas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0A36EDA-3C92-4314-A476-DD2EA9931D39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2286000" cy="9906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1AE8496-9096-4339-98ED-0AB0E66DF884}"/>
              </a:ext>
            </a:extLst>
          </p:cNvPr>
          <p:cNvSpPr>
            <a:spLocks noGrp="1"/>
          </p:cNvSpPr>
          <p:nvPr/>
        </p:nvSpPr>
        <p:spPr>
          <a:xfrm>
            <a:off x="685800" y="3019425"/>
            <a:ext cx="19812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Usuario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A18E1A6-8ECF-4512-9446-4474449DDA91}"/>
              </a:ext>
            </a:extLst>
          </p:cNvPr>
          <p:cNvSpPr>
            <a:spLocks noGrp="1"/>
          </p:cNvSpPr>
          <p:nvPr/>
        </p:nvSpPr>
        <p:spPr>
          <a:xfrm>
            <a:off x="3390900" y="2838450"/>
            <a:ext cx="2286000" cy="9906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0610E02-E1E7-4129-8D46-5B4891A592BF}"/>
              </a:ext>
            </a:extLst>
          </p:cNvPr>
          <p:cNvSpPr>
            <a:spLocks noGrp="1"/>
          </p:cNvSpPr>
          <p:nvPr/>
        </p:nvSpPr>
        <p:spPr>
          <a:xfrm>
            <a:off x="3543300" y="3019425"/>
            <a:ext cx="19812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Frontend SPA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98964B3-6F8A-4475-850C-B2136F6C990C}"/>
              </a:ext>
            </a:extLst>
          </p:cNvPr>
          <p:cNvSpPr>
            <a:spLocks noGrp="1"/>
          </p:cNvSpPr>
          <p:nvPr/>
        </p:nvSpPr>
        <p:spPr>
          <a:xfrm>
            <a:off x="6248400" y="2838450"/>
            <a:ext cx="2286000" cy="9906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A15A4B-7E75-452A-BEF4-AA7C216D0F97}"/>
              </a:ext>
            </a:extLst>
          </p:cNvPr>
          <p:cNvSpPr>
            <a:spLocks noGrp="1"/>
          </p:cNvSpPr>
          <p:nvPr/>
        </p:nvSpPr>
        <p:spPr>
          <a:xfrm>
            <a:off x="6400800" y="3019425"/>
            <a:ext cx="19812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D6BF0BB-809B-4458-A58C-FCEF8424BC50}"/>
              </a:ext>
            </a:extLst>
          </p:cNvPr>
          <p:cNvSpPr>
            <a:spLocks noGrp="1"/>
          </p:cNvSpPr>
          <p:nvPr/>
        </p:nvSpPr>
        <p:spPr>
          <a:xfrm>
            <a:off x="9105900" y="2838450"/>
            <a:ext cx="2286000" cy="9906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97D7BA7-B55D-4507-A3A3-AA288C0DC56D}"/>
              </a:ext>
            </a:extLst>
          </p:cNvPr>
          <p:cNvSpPr>
            <a:spLocks noGrp="1"/>
          </p:cNvSpPr>
          <p:nvPr/>
        </p:nvSpPr>
        <p:spPr>
          <a:xfrm>
            <a:off x="9258300" y="3019425"/>
            <a:ext cx="19812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API de IA</a:t>
            </a:r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9DF01425-DD66-4B28-9896-8B759B53B861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1E908CE2-3020-4D7B-A48D-5FA557BC8CF3}"/>
              </a:ext>
            </a:extLst>
          </p:cNvPr>
          <p:cNvSpPr>
            <a:spLocks noGrp="1"/>
          </p:cNvSpPr>
          <p:nvPr/>
        </p:nvSpPr>
        <p:spPr>
          <a:xfrm>
            <a:off x="5734050" y="32004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D2AE594E-5B33-4629-AFDA-2060CB4DB81D}"/>
              </a:ext>
            </a:extLst>
          </p:cNvPr>
          <p:cNvSpPr>
            <a:spLocks noGrp="1"/>
          </p:cNvSpPr>
          <p:nvPr/>
        </p:nvSpPr>
        <p:spPr>
          <a:xfrm>
            <a:off x="8591550" y="32004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94B8E51-181A-4D70-AAEC-0E9038D37397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1800" b="0">
                <a:solidFill>
                  <a:srgbClr val="188038"/>
                </a:solidFill>
                <a:latin typeface="Oswald"/>
                <a:ea typeface="Oswald"/>
                <a:cs typeface="Oswald"/>
              </a:rPr>
              <a:t>Formulario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B9524B7-F539-4952-9340-108FCCE27A17}"/>
              </a:ext>
            </a:extLst>
          </p:cNvPr>
          <p:cNvSpPr>
            <a:spLocks noGrp="1"/>
          </p:cNvSpPr>
          <p:nvPr/>
        </p:nvSpPr>
        <p:spPr>
          <a:xfrm>
            <a:off x="3390900" y="23812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1800" b="0">
                <a:solidFill>
                  <a:srgbClr val="188038"/>
                </a:solidFill>
                <a:latin typeface="Oswald"/>
                <a:ea typeface="Oswald"/>
                <a:cs typeface="Oswald"/>
              </a:rPr>
              <a:t>HTTP / JSON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34A5907-80E2-4831-933E-2080F512C586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1800" b="0">
                <a:solidFill>
                  <a:srgbClr val="188038"/>
                </a:solidFill>
                <a:latin typeface="Oswald"/>
                <a:ea typeface="Oswald"/>
                <a:cs typeface="Oswald"/>
              </a:rPr>
              <a:t>Clave privada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D66C766-7892-4508-9829-AED8465EC32E}"/>
              </a:ext>
            </a:extLst>
          </p:cNvPr>
          <p:cNvSpPr>
            <a:spLocks noGrp="1"/>
          </p:cNvSpPr>
          <p:nvPr/>
        </p:nvSpPr>
        <p:spPr>
          <a:xfrm>
            <a:off x="9105900" y="23812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800" b="0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1800" b="0">
                <a:solidFill>
                  <a:srgbClr val="188038"/>
                </a:solidFill>
                <a:latin typeface="Oswald"/>
                <a:ea typeface="Oswald"/>
                <a:cs typeface="Oswald"/>
              </a:rPr>
              <a:t>Un proveedor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D1CF45C-E0D7-4BAC-B65A-BBA8A46B0198}"/>
              </a:ext>
            </a:extLst>
          </p:cNvPr>
          <p:cNvSpPr>
            <a:spLocks noGrp="1"/>
          </p:cNvSpPr>
          <p:nvPr/>
        </p:nvSpPr>
        <p:spPr>
          <a:xfrm>
            <a:off x="533400" y="4505325"/>
            <a:ext cx="111252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La respuesta vuelve como JSON y se muestra en la misma pantalla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70B300B-4320-4254-8878-2E5A73A11D21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1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Sin base de datos ni almacenamiento de entradas o resultados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La solicitud y su respuesta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7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D9B5618-F0E4-4B53-9659-F828ED8EC53B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52578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1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1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Un único flujo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05F47CE-70DB-48B1-81F2-5B7BA3EFDF83}"/>
              </a:ext>
            </a:extLst>
          </p:cNvPr>
          <p:cNvSpPr>
            <a:spLocks noGrp="1"/>
          </p:cNvSpPr>
          <p:nvPr/>
        </p:nvSpPr>
        <p:spPr>
          <a:xfrm>
            <a:off x="533400" y="2714625"/>
            <a:ext cx="5257800" cy="27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El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formulario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envía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datos</a:t>
            </a:r>
            <a:r>
              <a:rPr lang="es-ES"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</a:t>
            </a:r>
            <a:endParaRPr sz="24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endParaRPr sz="24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consulta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una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API</a:t>
            </a:r>
            <a:r>
              <a:rPr lang="es-ES"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y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devuelve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JSON</a:t>
            </a:r>
          </a:p>
          <a:p>
            <a:endParaRPr sz="24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La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misma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pantalla</a:t>
            </a:r>
            <a:r>
              <a:rPr lang="es-ES"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muestra</a:t>
            </a:r>
            <a:r>
              <a:rPr sz="2400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el </a:t>
            </a:r>
            <a:r>
              <a:rPr sz="2400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resultado</a:t>
            </a:r>
            <a:endParaRPr sz="2400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493DA4F-21C4-4BF7-B0F5-2292567D7DB8}"/>
              </a:ext>
            </a:extLst>
          </p:cNvPr>
          <p:cNvSpPr>
            <a:spLocks noGrp="1"/>
          </p:cNvSpPr>
          <p:nvPr/>
        </p:nvSpPr>
        <p:spPr>
          <a:xfrm>
            <a:off x="533400" y="5695950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Cero persistencia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Tecnologías de la miniapp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8 / 30</a:t>
            </a:r>
          </a:p>
        </p:txBody>
      </p:sp>
      <p:graphicFrame>
        <p:nvGraphicFramePr>
          <p:cNvPr id="20" name="Tabla 19"/>
          <p:cNvGraphicFramePr/>
          <p:nvPr/>
        </p:nvGraphicFramePr>
        <p:xfrm>
          <a:off x="533400" y="1762125"/>
          <a:ext cx="11125200" cy="39624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1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Capa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Tecnologías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Backend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Python + FastAPI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Pruebas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pytest + mock de API externa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Frontend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Vue.js o React + Tailwind CSS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IA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Un proveedor y modelo documentados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Versiones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Git + GitHub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Dos formas de desarrollo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9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83B78CE-9143-40A9-B376-BAB99E2AE56C}"/>
              </a:ext>
            </a:extLst>
          </p:cNvPr>
          <p:cNvSpPr>
            <a:spLocks noGrp="1"/>
          </p:cNvSpPr>
          <p:nvPr/>
        </p:nvSpPr>
        <p:spPr>
          <a:xfrm>
            <a:off x="0" y="1200150"/>
            <a:ext cx="6096000" cy="5048250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AB1C393-0807-45B7-BE8E-A454A92BE534}"/>
              </a:ext>
            </a:extLst>
          </p:cNvPr>
          <p:cNvSpPr>
            <a:spLocks noGrp="1"/>
          </p:cNvSpPr>
          <p:nvPr/>
        </p:nvSpPr>
        <p:spPr>
          <a:xfrm>
            <a:off x="6096000" y="1200150"/>
            <a:ext cx="6096000" cy="5048250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72DA8FF-AF3A-4D90-8143-AB735F174814}"/>
              </a:ext>
            </a:extLst>
          </p:cNvPr>
          <p:cNvSpPr>
            <a:spLocks noGrp="1"/>
          </p:cNvSpPr>
          <p:nvPr/>
        </p:nvSpPr>
        <p:spPr>
          <a:xfrm>
            <a:off x="381000" y="171450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0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0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APLICACIÓN 1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5683B97-69BC-4E50-862A-527A06D36798}"/>
              </a:ext>
            </a:extLst>
          </p:cNvPr>
          <p:cNvSpPr>
            <a:spLocks noGrp="1"/>
          </p:cNvSpPr>
          <p:nvPr/>
        </p:nvSpPr>
        <p:spPr>
          <a:xfrm>
            <a:off x="381000" y="2476500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3225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Desarrollo manual</a:t>
            </a:r>
          </a:p>
          <a:p>
            <a:pPr>
              <a:buNone/>
              <a:defRPr sz="3225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3225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y progresivo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00FB11C-0FF5-463B-AA1A-286B72ED577E}"/>
              </a:ext>
            </a:extLst>
          </p:cNvPr>
          <p:cNvSpPr>
            <a:spLocks noGrp="1"/>
          </p:cNvSpPr>
          <p:nvPr/>
        </p:nvSpPr>
        <p:spPr>
          <a:xfrm>
            <a:off x="381000" y="4048125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Backend, tests y frontend</a:t>
            </a:r>
          </a:p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Integración</a:t>
            </a:r>
            <a:r>
              <a:rPr sz="2325" b="0" dirty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 y </a:t>
            </a:r>
            <a:r>
              <a:rPr sz="2325" b="0" dirty="0" err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Vercel</a:t>
            </a:r>
            <a:endParaRPr sz="2325" b="0" dirty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F4631E7-8EBD-4747-AD62-4A55858B1387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5334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0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0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APLICACIÓN 2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F06354D-96CE-4062-9453-F54F9732DD05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3225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Spec Kit + IA</a:t>
            </a:r>
          </a:p>
          <a:p>
            <a:pPr>
              <a:buNone/>
              <a:defRPr sz="3225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3225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Proyecto nuevo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048A424-D683-4D85-A3C3-B6D92DFDE234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5334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Misma función y contrato</a:t>
            </a:r>
          </a:p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Clerk, Docker y EC2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Dos procesos, una misma función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10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DAA202D-8BBD-4F2B-B8A1-9330115666D9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52578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1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1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App 1 y App 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2BD988D-7A87-499F-B254-4A6350232CA5}"/>
              </a:ext>
            </a:extLst>
          </p:cNvPr>
          <p:cNvSpPr>
            <a:spLocks noGrp="1"/>
          </p:cNvSpPr>
          <p:nvPr/>
        </p:nvSpPr>
        <p:spPr>
          <a:xfrm>
            <a:off x="533400" y="2714625"/>
            <a:ext cx="5257800" cy="27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Primero, desarrollo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manual e incremental</a:t>
            </a:r>
          </a:p>
          <a:p>
            <a:endParaRPr sz="2400" b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Después, especificación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con Spec Kit e IA</a:t>
            </a:r>
          </a:p>
          <a:p>
            <a:endParaRPr sz="2400" b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En ambos casos, pruebas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y revisión del equipo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F57299-6EFD-41A1-A6E8-81882A2F4E7F}"/>
              </a:ext>
            </a:extLst>
          </p:cNvPr>
          <p:cNvSpPr>
            <a:spLocks noGrp="1"/>
          </p:cNvSpPr>
          <p:nvPr/>
        </p:nvSpPr>
        <p:spPr>
          <a:xfrm>
            <a:off x="533400" y="5695950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La IA necesita revisión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App 1: construcción incremental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11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965BDA8-304A-461E-AC88-823C3A05F43A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28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3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43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01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4F88CE5-C6DF-4062-9AAF-661E18A83395}"/>
              </a:ext>
            </a:extLst>
          </p:cNvPr>
          <p:cNvSpPr>
            <a:spLocks noGrp="1"/>
          </p:cNvSpPr>
          <p:nvPr/>
        </p:nvSpPr>
        <p:spPr>
          <a:xfrm>
            <a:off x="533400" y="2867025"/>
            <a:ext cx="228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Backend mínimo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090EED6-8B5A-4EAB-A3C1-2CDDF552801C}"/>
              </a:ext>
            </a:extLst>
          </p:cNvPr>
          <p:cNvSpPr>
            <a:spLocks noGrp="1"/>
          </p:cNvSpPr>
          <p:nvPr/>
        </p:nvSpPr>
        <p:spPr>
          <a:xfrm>
            <a:off x="533400" y="40671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1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Petición real a IA</a:t>
            </a:r>
          </a:p>
        </p:txBody>
      </p:sp>
      <p:sp>
        <p:nvSpPr>
          <p:cNvPr id="18" name="Flecha: a la derecha 17">
            <a:extLst>
              <a:ext uri="{FF2B5EF4-FFF2-40B4-BE49-F238E27FC236}">
                <a16:creationId xmlns:a16="http://schemas.microsoft.com/office/drawing/2014/main" id="{AD921724-DB1B-4980-8632-B4969109A186}"/>
              </a:ext>
            </a:extLst>
          </p:cNvPr>
          <p:cNvSpPr>
            <a:spLocks noGrp="1"/>
          </p:cNvSpPr>
          <p:nvPr/>
        </p:nvSpPr>
        <p:spPr>
          <a:xfrm>
            <a:off x="2867025" y="3190875"/>
            <a:ext cx="400050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26B02CA-744B-4C58-8239-881B6143635F}"/>
              </a:ext>
            </a:extLst>
          </p:cNvPr>
          <p:cNvSpPr>
            <a:spLocks noGrp="1"/>
          </p:cNvSpPr>
          <p:nvPr/>
        </p:nvSpPr>
        <p:spPr>
          <a:xfrm>
            <a:off x="3390900" y="1790700"/>
            <a:ext cx="228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3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43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02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147481C-6B69-4886-836C-9E992BE29918}"/>
              </a:ext>
            </a:extLst>
          </p:cNvPr>
          <p:cNvSpPr>
            <a:spLocks noGrp="1"/>
          </p:cNvSpPr>
          <p:nvPr/>
        </p:nvSpPr>
        <p:spPr>
          <a:xfrm>
            <a:off x="3390900" y="2867025"/>
            <a:ext cx="228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Contrato y tests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D83A6D7-8476-48E6-8DF3-E40EC0A452B6}"/>
              </a:ext>
            </a:extLst>
          </p:cNvPr>
          <p:cNvSpPr>
            <a:spLocks noGrp="1"/>
          </p:cNvSpPr>
          <p:nvPr/>
        </p:nvSpPr>
        <p:spPr>
          <a:xfrm>
            <a:off x="3390900" y="40671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1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JSON, errores y mocks</a:t>
            </a:r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F5A3DB8C-DBB6-4D10-A1F0-67795A7DDCAC}"/>
              </a:ext>
            </a:extLst>
          </p:cNvPr>
          <p:cNvSpPr>
            <a:spLocks noGrp="1"/>
          </p:cNvSpPr>
          <p:nvPr/>
        </p:nvSpPr>
        <p:spPr>
          <a:xfrm>
            <a:off x="5724525" y="3190875"/>
            <a:ext cx="400050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F23DF9A-5AC6-43F6-B270-7F4A87E3AE3B}"/>
              </a:ext>
            </a:extLst>
          </p:cNvPr>
          <p:cNvSpPr>
            <a:spLocks noGrp="1"/>
          </p:cNvSpPr>
          <p:nvPr/>
        </p:nvSpPr>
        <p:spPr>
          <a:xfrm>
            <a:off x="6248400" y="1790700"/>
            <a:ext cx="228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3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43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03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30A9548-9AC9-47B3-99EF-30BAE0F3CCDB}"/>
              </a:ext>
            </a:extLst>
          </p:cNvPr>
          <p:cNvSpPr>
            <a:spLocks noGrp="1"/>
          </p:cNvSpPr>
          <p:nvPr/>
        </p:nvSpPr>
        <p:spPr>
          <a:xfrm>
            <a:off x="6248400" y="2867025"/>
            <a:ext cx="228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Frontend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E08FBA8-B90E-4FC1-88AF-65C56A3BBA9A}"/>
              </a:ext>
            </a:extLst>
          </p:cNvPr>
          <p:cNvSpPr>
            <a:spLocks noGrp="1"/>
          </p:cNvSpPr>
          <p:nvPr/>
        </p:nvSpPr>
        <p:spPr>
          <a:xfrm>
            <a:off x="6248400" y="40671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1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Formulario e integración</a:t>
            </a: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0B8BEEF0-ECF4-422C-939B-DAAE4486A380}"/>
              </a:ext>
            </a:extLst>
          </p:cNvPr>
          <p:cNvSpPr>
            <a:spLocks noGrp="1"/>
          </p:cNvSpPr>
          <p:nvPr/>
        </p:nvSpPr>
        <p:spPr>
          <a:xfrm>
            <a:off x="8582025" y="3190875"/>
            <a:ext cx="400050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01E26DC8-E5B0-4FD4-ACE0-A3FFFB13CBDA}"/>
              </a:ext>
            </a:extLst>
          </p:cNvPr>
          <p:cNvSpPr>
            <a:spLocks noGrp="1"/>
          </p:cNvSpPr>
          <p:nvPr/>
        </p:nvSpPr>
        <p:spPr>
          <a:xfrm>
            <a:off x="9105900" y="1790700"/>
            <a:ext cx="22860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43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43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04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8FFFBCA-1FAF-459F-BE69-E447D093BD11}"/>
              </a:ext>
            </a:extLst>
          </p:cNvPr>
          <p:cNvSpPr>
            <a:spLocks noGrp="1"/>
          </p:cNvSpPr>
          <p:nvPr/>
        </p:nvSpPr>
        <p:spPr>
          <a:xfrm>
            <a:off x="9105900" y="2867025"/>
            <a:ext cx="2286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Cierre App 1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64D6CA6-8532-4D78-84D1-82A9068C2262}"/>
              </a:ext>
            </a:extLst>
          </p:cNvPr>
          <p:cNvSpPr>
            <a:spLocks noGrp="1"/>
          </p:cNvSpPr>
          <p:nvPr/>
        </p:nvSpPr>
        <p:spPr>
          <a:xfrm>
            <a:off x="9105900" y="4067175"/>
            <a:ext cx="2286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1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1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Tailwind y Vercel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6B2F5A3-8C44-464D-BA4C-75BE25730678}"/>
              </a:ext>
            </a:extLst>
          </p:cNvPr>
          <p:cNvSpPr>
            <a:spLocks noGrp="1"/>
          </p:cNvSpPr>
          <p:nvPr/>
        </p:nvSpPr>
        <p:spPr>
          <a:xfrm>
            <a:off x="533400" y="5695950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El historial Git muestra cada fase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Contrato y errores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12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C8011FC-75EF-41DA-A86B-45054738F245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Entrada validada y con límites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F2C4075-7B66-4CCB-A87D-607BCCBDDFF4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Salida JSON con esquema estable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4168AC-8AED-407A-9D85-39F53A9CEEC4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Espera, resultado y error en la SPA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44AD7C4-430A-4E92-92EF-B43D1E6A94EF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Timeout y fallos controlados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Pruebas que aportan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13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3550CEF-4ACD-4894-ABA4-740D42A8C9F6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Entrada válida y una sola llamada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F49E4C7-E4CC-4F2F-B819-87ED848F8E9B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Vacío, espacios y límite de longitud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C486574-C1AE-4791-B6BE-3CD180918855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Fallo externo y timeout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61208B0-C90A-49EC-92D5-1C70F7B53927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Mock de IA sin consumir créditos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ERS con la plantilla original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14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FD5DCA5-70CD-4BDE-9F3A-32BB6350AA00}"/>
              </a:ext>
            </a:extLst>
          </p:cNvPr>
          <p:cNvSpPr>
            <a:spLocks noGrp="1"/>
          </p:cNvSpPr>
          <p:nvPr/>
        </p:nvSpPr>
        <p:spPr>
          <a:xfrm>
            <a:off x="0" y="1200150"/>
            <a:ext cx="6096000" cy="5048250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2A09976-392E-4CC1-BF94-30C5F552E74B}"/>
              </a:ext>
            </a:extLst>
          </p:cNvPr>
          <p:cNvSpPr>
            <a:spLocks noGrp="1"/>
          </p:cNvSpPr>
          <p:nvPr/>
        </p:nvSpPr>
        <p:spPr>
          <a:xfrm>
            <a:off x="6096000" y="1200150"/>
            <a:ext cx="6096000" cy="5048250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8A27BCE-02E4-47AF-AD82-5803F51D9BE4}"/>
              </a:ext>
            </a:extLst>
          </p:cNvPr>
          <p:cNvSpPr>
            <a:spLocks noGrp="1"/>
          </p:cNvSpPr>
          <p:nvPr/>
        </p:nvSpPr>
        <p:spPr>
          <a:xfrm>
            <a:off x="381000" y="161925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PLANTILLA REAL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1E0DA59-B76D-4A3B-A4D9-ECF8768FECA0}"/>
              </a:ext>
            </a:extLst>
          </p:cNvPr>
          <p:cNvSpPr>
            <a:spLocks noGrp="1"/>
          </p:cNvSpPr>
          <p:nvPr/>
        </p:nvSpPr>
        <p:spPr>
          <a:xfrm>
            <a:off x="381000" y="2619375"/>
            <a:ext cx="5334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7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Datos del documento</a:t>
            </a:r>
          </a:p>
          <a:p>
            <a:pPr>
              <a:buNone/>
              <a:defRPr sz="277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7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Secciones 1–10 y anexos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5286A46-89A9-495B-AC1E-F58DA8766152}"/>
              </a:ext>
            </a:extLst>
          </p:cNvPr>
          <p:cNvSpPr>
            <a:spLocks noGrp="1"/>
          </p:cNvSpPr>
          <p:nvPr/>
        </p:nvSpPr>
        <p:spPr>
          <a:xfrm>
            <a:off x="381000" y="4438650"/>
            <a:ext cx="5334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Completar lo aplicable</a:t>
            </a:r>
          </a:p>
          <a:p>
            <a:pPr>
              <a:buNone/>
              <a:defRPr sz="255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«No aplica» justificado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CFF759E-5DE1-47F9-A73F-A78F342CFF26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5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REQUISITOS VERIFICABLES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3753C20-8742-4556-AC8B-3FE514295958}"/>
              </a:ext>
            </a:extLst>
          </p:cNvPr>
          <p:cNvSpPr>
            <a:spLocks noGrp="1"/>
          </p:cNvSpPr>
          <p:nvPr/>
        </p:nvSpPr>
        <p:spPr>
          <a:xfrm>
            <a:off x="6477000" y="2619375"/>
            <a:ext cx="5334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7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3–6 RF y 2–4 RNF</a:t>
            </a:r>
          </a:p>
          <a:p>
            <a:pPr>
              <a:buNone/>
              <a:defRPr sz="277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7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Como orientación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ABAFB4E-1945-4ED3-990A-2D5AC7B988C3}"/>
              </a:ext>
            </a:extLst>
          </p:cNvPr>
          <p:cNvSpPr>
            <a:spLocks noGrp="1"/>
          </p:cNvSpPr>
          <p:nvPr/>
        </p:nvSpPr>
        <p:spPr>
          <a:xfrm>
            <a:off x="6477000" y="4438650"/>
            <a:ext cx="5334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Criterios de aceptación</a:t>
            </a:r>
          </a:p>
          <a:p>
            <a:pPr>
              <a:buNone/>
              <a:defRPr sz="25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y trazabilidad con pruebas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Mermaid con sentido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15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CB29562-9BAC-4319-9D9A-217B12BBC97C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Arquitectura o contexto obligatorio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1143515-A9C1-4E22-A171-A9EFF7A2B61E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Secuencia para explicar una solicitud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EFE7481-6D2E-44D4-A0A8-EE4FA2672D39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1–2 adicionales solo si aportan valor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B08F7DF-0DA0-454A-87F7-8D37B3BD921D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Cada requisito enlaza con una prueba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Git muestra el proceso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16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17CC6F6-E86B-4ED1-B85D-7DB74075855C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Un repositorio por grupo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FD2B488-D29C-4A4E-88B6-603965D4C47B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Contribuciones identificables de todos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4A441E0-92E2-423E-A983-384FDAAE7FEA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Hitos progresivos de ambas apps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750A669-282A-460B-A1FD-31E907C51346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README, .gitignore y .env.example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Secretos y reproducibilidad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17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3BDC2AA-31E4-4CDF-A180-1BEF4D5A331C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Clave IA y secretos solo en backend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10B93B4-CB6D-4E56-B897-6FC2339723D4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Variables públicas del frontend visibles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E0AB2AE-C6AB-4076-890D-BD03068C126F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Nada sensible en Git, imágenes o capturas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174EFC2-08A6-4E5F-B49F-9E37B64D1386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Versiones e instrucciones reproducibles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Vercel: ambas capas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18 / 30</a:t>
            </a:r>
          </a:p>
        </p:txBody>
      </p:sp>
      <p:graphicFrame>
        <p:nvGraphicFramePr>
          <p:cNvPr id="22" name="Tabla 21"/>
          <p:cNvGraphicFramePr/>
          <p:nvPr/>
        </p:nvGraphicFramePr>
        <p:xfrm>
          <a:off x="533400" y="1981200"/>
          <a:ext cx="11125200" cy="3276600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Frontend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Backend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Vue.js o React compilado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FastAPI como función serverless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Archivos estáticos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Una solicitud por ejecución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URL pública del backend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Clave IA privada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Origen HTTPS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CORS configurado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335C9F1B-B0B4-4E41-ADE6-69062269758F}"/>
              </a:ext>
            </a:extLst>
          </p:cNvPr>
          <p:cNvSpPr>
            <a:spLocks noGrp="1"/>
          </p:cNvSpPr>
          <p:nvPr/>
        </p:nvSpPr>
        <p:spPr>
          <a:xfrm>
            <a:off x="533400" y="5619750"/>
            <a:ext cx="111252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Dos proyectos Vercel por app · CLI y URLs documentadas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Configuración y prueba en Vercel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19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82907C5-9D6E-4189-97F6-EE011B9BA939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Development, Preview y Production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EAF97AA-BD61-4CD2-A679-E6FC31100B17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CLI: login, link y deploy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E6A30AC-1172-436F-876D-8EB1027B8445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Variables privadas por proyecto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9B0B5B2-120B-4E74-BD1B-1159CF324DD3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Petición correcta y error desde la URL real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App 2 con GitHub Spec Kit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20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062EE43-914D-464C-8DDB-CA6A297D0C55}"/>
              </a:ext>
            </a:extLst>
          </p:cNvPr>
          <p:cNvSpPr>
            <a:spLocks noGrp="1"/>
          </p:cNvSpPr>
          <p:nvPr/>
        </p:nvSpPr>
        <p:spPr>
          <a:xfrm>
            <a:off x="533400" y="1619250"/>
            <a:ext cx="5429250" cy="1857375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0B353EA-68FD-4327-A139-5ACD7C5D5B23}"/>
              </a:ext>
            </a:extLst>
          </p:cNvPr>
          <p:cNvSpPr>
            <a:spLocks noGrp="1"/>
          </p:cNvSpPr>
          <p:nvPr/>
        </p:nvSpPr>
        <p:spPr>
          <a:xfrm>
            <a:off x="762000" y="1828800"/>
            <a:ext cx="4972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Especificación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2EF033B-ACCC-4FE3-827A-5506E2F9386C}"/>
              </a:ext>
            </a:extLst>
          </p:cNvPr>
          <p:cNvSpPr>
            <a:spLocks noGrp="1"/>
          </p:cNvSpPr>
          <p:nvPr/>
        </p:nvSpPr>
        <p:spPr>
          <a:xfrm>
            <a:off x="762000" y="2638425"/>
            <a:ext cx="49720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Restricciones y aceptación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68622EB-DC01-4A5A-B5B8-6EB32A09CD3E}"/>
              </a:ext>
            </a:extLst>
          </p:cNvPr>
          <p:cNvSpPr>
            <a:spLocks noGrp="1"/>
          </p:cNvSpPr>
          <p:nvPr/>
        </p:nvSpPr>
        <p:spPr>
          <a:xfrm>
            <a:off x="6229350" y="1619250"/>
            <a:ext cx="5429250" cy="1857375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336295E-E76F-4CC2-A75E-DB2B3D729B77}"/>
              </a:ext>
            </a:extLst>
          </p:cNvPr>
          <p:cNvSpPr>
            <a:spLocks noGrp="1"/>
          </p:cNvSpPr>
          <p:nvPr/>
        </p:nvSpPr>
        <p:spPr>
          <a:xfrm>
            <a:off x="6457950" y="1828800"/>
            <a:ext cx="4972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Plan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65F2C08-C8F6-4D0F-AC1E-48D6BE355436}"/>
              </a:ext>
            </a:extLst>
          </p:cNvPr>
          <p:cNvSpPr>
            <a:spLocks noGrp="1"/>
          </p:cNvSpPr>
          <p:nvPr/>
        </p:nvSpPr>
        <p:spPr>
          <a:xfrm>
            <a:off x="6457950" y="2638425"/>
            <a:ext cx="49720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Tecnologías y contrato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FEDD528-BC96-435F-8A99-8C92FD255EFC}"/>
              </a:ext>
            </a:extLst>
          </p:cNvPr>
          <p:cNvSpPr>
            <a:spLocks noGrp="1"/>
          </p:cNvSpPr>
          <p:nvPr/>
        </p:nvSpPr>
        <p:spPr>
          <a:xfrm>
            <a:off x="533400" y="3752850"/>
            <a:ext cx="5429250" cy="1857375"/>
          </a:xfrm>
          <a:prstGeom prst="rect">
            <a:avLst/>
          </a:prstGeom>
          <a:solidFill>
            <a:srgbClr val="EAF3E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E5C12DF-E1BB-4858-86C8-3F9200F29C5C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4972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Tareas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4DB042E-2430-4FA9-A3D1-06C01AE761EA}"/>
              </a:ext>
            </a:extLst>
          </p:cNvPr>
          <p:cNvSpPr>
            <a:spLocks noGrp="1"/>
          </p:cNvSpPr>
          <p:nvPr/>
        </p:nvSpPr>
        <p:spPr>
          <a:xfrm>
            <a:off x="762000" y="4772025"/>
            <a:ext cx="49720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Pasos pequeños comprobables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098ECC3-BF27-4292-B4B5-6E7839406C60}"/>
              </a:ext>
            </a:extLst>
          </p:cNvPr>
          <p:cNvSpPr>
            <a:spLocks noGrp="1"/>
          </p:cNvSpPr>
          <p:nvPr/>
        </p:nvSpPr>
        <p:spPr>
          <a:xfrm>
            <a:off x="6229350" y="3752850"/>
            <a:ext cx="5429250" cy="1857375"/>
          </a:xfrm>
          <a:prstGeom prst="rect">
            <a:avLst/>
          </a:prstGeom>
          <a:solidFill>
            <a:srgbClr val="FFF2DC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C6716D2-A153-482F-9B74-BEB9940676E3}"/>
              </a:ext>
            </a:extLst>
          </p:cNvPr>
          <p:cNvSpPr>
            <a:spLocks noGrp="1"/>
          </p:cNvSpPr>
          <p:nvPr/>
        </p:nvSpPr>
        <p:spPr>
          <a:xfrm>
            <a:off x="6457950" y="3962400"/>
            <a:ext cx="49720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77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77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Implementación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AD18CD3-6503-4D41-A159-2929F1767C58}"/>
              </a:ext>
            </a:extLst>
          </p:cNvPr>
          <p:cNvSpPr>
            <a:spLocks noGrp="1"/>
          </p:cNvSpPr>
          <p:nvPr/>
        </p:nvSpPr>
        <p:spPr>
          <a:xfrm>
            <a:off x="6457950" y="4772025"/>
            <a:ext cx="49720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325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IA + revisión humana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FEF9538-AC46-4ED3-ABCD-932C6785D58B}"/>
              </a:ext>
            </a:extLst>
          </p:cNvPr>
          <p:cNvSpPr>
            <a:spLocks noGrp="1"/>
          </p:cNvSpPr>
          <p:nvPr/>
        </p:nvSpPr>
        <p:spPr>
          <a:xfrm>
            <a:off x="533400" y="5943600"/>
            <a:ext cx="111252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025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025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La especificación debe aparecer en Git antes del código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Clerk en la misma SPA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21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F8FBACD-6006-4C44-9C2A-BD00D6EB9E67}"/>
              </a:ext>
            </a:extLst>
          </p:cNvPr>
          <p:cNvSpPr>
            <a:spLocks noGrp="1"/>
          </p:cNvSpPr>
          <p:nvPr/>
        </p:nvSpPr>
        <p:spPr>
          <a:xfrm>
            <a:off x="533400" y="2647950"/>
            <a:ext cx="2286000" cy="11430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3A5AF6E-382D-4266-8C04-F1512547F64A}"/>
              </a:ext>
            </a:extLst>
          </p:cNvPr>
          <p:cNvSpPr>
            <a:spLocks noGrp="1"/>
          </p:cNvSpPr>
          <p:nvPr/>
        </p:nvSpPr>
        <p:spPr>
          <a:xfrm>
            <a:off x="685800" y="2828925"/>
            <a:ext cx="19812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Acceso en SPA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2C1F163-6A5A-46BD-8B00-81328EC4428E}"/>
              </a:ext>
            </a:extLst>
          </p:cNvPr>
          <p:cNvSpPr>
            <a:spLocks noGrp="1"/>
          </p:cNvSpPr>
          <p:nvPr/>
        </p:nvSpPr>
        <p:spPr>
          <a:xfrm>
            <a:off x="3390900" y="2647950"/>
            <a:ext cx="2286000" cy="11430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F09B787-E7DE-4579-9D93-71698D908A1E}"/>
              </a:ext>
            </a:extLst>
          </p:cNvPr>
          <p:cNvSpPr>
            <a:spLocks noGrp="1"/>
          </p:cNvSpPr>
          <p:nvPr/>
        </p:nvSpPr>
        <p:spPr>
          <a:xfrm>
            <a:off x="3543300" y="2828925"/>
            <a:ext cx="19812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Token de sesión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C35D75-5E11-4124-8267-11E3D94D5069}"/>
              </a:ext>
            </a:extLst>
          </p:cNvPr>
          <p:cNvSpPr>
            <a:spLocks noGrp="1"/>
          </p:cNvSpPr>
          <p:nvPr/>
        </p:nvSpPr>
        <p:spPr>
          <a:xfrm>
            <a:off x="6248400" y="2647950"/>
            <a:ext cx="2286000" cy="11430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F7FB4BF-E85F-4935-B85A-9BD78946B235}"/>
              </a:ext>
            </a:extLst>
          </p:cNvPr>
          <p:cNvSpPr>
            <a:spLocks noGrp="1"/>
          </p:cNvSpPr>
          <p:nvPr/>
        </p:nvSpPr>
        <p:spPr>
          <a:xfrm>
            <a:off x="6400800" y="2828925"/>
            <a:ext cx="19812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 verifica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4BD33FDB-622F-4568-B980-C9BAAE2ABF80}"/>
              </a:ext>
            </a:extLst>
          </p:cNvPr>
          <p:cNvSpPr>
            <a:spLocks noGrp="1"/>
          </p:cNvSpPr>
          <p:nvPr/>
        </p:nvSpPr>
        <p:spPr>
          <a:xfrm>
            <a:off x="9105900" y="2647950"/>
            <a:ext cx="2286000" cy="1143000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443BAA9-9ADA-4AED-AED4-AEB7F1BBDCEE}"/>
              </a:ext>
            </a:extLst>
          </p:cNvPr>
          <p:cNvSpPr>
            <a:spLocks noGrp="1"/>
          </p:cNvSpPr>
          <p:nvPr/>
        </p:nvSpPr>
        <p:spPr>
          <a:xfrm>
            <a:off x="9258300" y="2828925"/>
            <a:ext cx="19812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API de IA</a:t>
            </a:r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5F57CFEF-109B-4AFB-BB34-3231551B906D}"/>
              </a:ext>
            </a:extLst>
          </p:cNvPr>
          <p:cNvSpPr>
            <a:spLocks noGrp="1"/>
          </p:cNvSpPr>
          <p:nvPr/>
        </p:nvSpPr>
        <p:spPr>
          <a:xfrm>
            <a:off x="2876550" y="30480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4" name="Flecha: a la derecha 23">
            <a:extLst>
              <a:ext uri="{FF2B5EF4-FFF2-40B4-BE49-F238E27FC236}">
                <a16:creationId xmlns:a16="http://schemas.microsoft.com/office/drawing/2014/main" id="{63B6B949-1194-42E9-9C83-92A513DAE5DA}"/>
              </a:ext>
            </a:extLst>
          </p:cNvPr>
          <p:cNvSpPr>
            <a:spLocks noGrp="1"/>
          </p:cNvSpPr>
          <p:nvPr/>
        </p:nvSpPr>
        <p:spPr>
          <a:xfrm>
            <a:off x="5734050" y="30480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5" name="Flecha: a la derecha 24">
            <a:extLst>
              <a:ext uri="{FF2B5EF4-FFF2-40B4-BE49-F238E27FC236}">
                <a16:creationId xmlns:a16="http://schemas.microsoft.com/office/drawing/2014/main" id="{2EA7FF08-CD98-4E6C-AFDB-D9108A565C60}"/>
              </a:ext>
            </a:extLst>
          </p:cNvPr>
          <p:cNvSpPr>
            <a:spLocks noGrp="1"/>
          </p:cNvSpPr>
          <p:nvPr/>
        </p:nvSpPr>
        <p:spPr>
          <a:xfrm>
            <a:off x="8591550" y="3048000"/>
            <a:ext cx="4476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1376845-59E5-4716-86A9-DE64E81678F9}"/>
              </a:ext>
            </a:extLst>
          </p:cNvPr>
          <p:cNvSpPr>
            <a:spLocks noGrp="1"/>
          </p:cNvSpPr>
          <p:nvPr/>
        </p:nvSpPr>
        <p:spPr>
          <a:xfrm>
            <a:off x="533400" y="4438650"/>
            <a:ext cx="111252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85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85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Token ausente o inválido: 401, sin llamada a IA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9112C3B-69F1-47C1-AD95-06C2D34077C0}"/>
              </a:ext>
            </a:extLst>
          </p:cNvPr>
          <p:cNvSpPr>
            <a:spLocks noGrp="1"/>
          </p:cNvSpPr>
          <p:nvPr/>
        </p:nvSpPr>
        <p:spPr>
          <a:xfrm>
            <a:off x="533400" y="5534025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2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Modal o componente integrado · Sin rutas ni usuarios propios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Comparación con evidencias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22 / 30</a:t>
            </a:r>
          </a:p>
        </p:txBody>
      </p:sp>
      <p:graphicFrame>
        <p:nvGraphicFramePr>
          <p:cNvPr id="22" name="Tabla 21"/>
          <p:cNvGraphicFramePr/>
          <p:nvPr/>
        </p:nvGraphicFramePr>
        <p:xfrm>
          <a:off x="533400" y="1828800"/>
          <a:ext cx="11125200" cy="3486150"/>
        </p:xfrm>
        <a:graphic>
          <a:graphicData uri="http://schemas.openxmlformats.org/drawingml/2006/table">
            <a:tbl>
              <a:tblPr/>
              <a:tblGrid>
                <a:gridCol w="340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1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Dimensión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Evidencia comparable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Tiempo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Incluye revisión y corrección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Calidad y errores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Mismos escenarios de aceptación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Mantenibilidad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Decisiones y estructura del código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23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Utilidad IA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Propuestas aceptadas y rechazadas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C29DDCC6-63CD-4236-ADD1-C738F7B123D0}"/>
              </a:ext>
            </a:extLst>
          </p:cNvPr>
          <p:cNvSpPr>
            <a:spLocks noGrp="1"/>
          </p:cNvSpPr>
          <p:nvPr/>
        </p:nvSpPr>
        <p:spPr>
          <a:xfrm>
            <a:off x="533400" y="5657850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Separar el esfuerzo de Clerk e infraestructura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Docker para App 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23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A02952-3074-4385-899A-69513895D163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3429000" cy="1362075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CF2F3D2-E98C-4231-BC2A-41D9FEEB49D3}"/>
              </a:ext>
            </a:extLst>
          </p:cNvPr>
          <p:cNvSpPr>
            <a:spLocks noGrp="1"/>
          </p:cNvSpPr>
          <p:nvPr/>
        </p:nvSpPr>
        <p:spPr>
          <a:xfrm>
            <a:off x="1009650" y="2962275"/>
            <a:ext cx="31242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Frontend</a:t>
            </a:r>
          </a:p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compilado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C36E2F6-4F5D-41B5-9307-01A9DE9A943D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3429000" cy="1362075"/>
          </a:xfrm>
          <a:prstGeom prst="rect">
            <a:avLst/>
          </a:prstGeom>
          <a:solidFill>
            <a:srgbClr val="EAF3EC"/>
          </a:solidFill>
          <a:ln w="19050">
            <a:solidFill>
              <a:srgbClr val="188038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5F6C10-AEF1-4F27-BA07-AB5AD465CA79}"/>
              </a:ext>
            </a:extLst>
          </p:cNvPr>
          <p:cNvSpPr>
            <a:spLocks noGrp="1"/>
          </p:cNvSpPr>
          <p:nvPr/>
        </p:nvSpPr>
        <p:spPr>
          <a:xfrm>
            <a:off x="7391400" y="2962275"/>
            <a:ext cx="31242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</a:t>
            </a:r>
          </a:p>
          <a:p>
            <a:pPr algn="ctr">
              <a:buNone/>
              <a:defRPr sz="2250" b="1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250" b="1">
                <a:solidFill>
                  <a:srgbClr val="222222"/>
                </a:solidFill>
                <a:latin typeface="Oswald"/>
                <a:ea typeface="Oswald"/>
                <a:cs typeface="Oswald"/>
              </a:rPr>
              <a:t>+ Uvicorn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78B88C92-0999-47A5-919D-741A0E98FDB4}"/>
              </a:ext>
            </a:extLst>
          </p:cNvPr>
          <p:cNvSpPr>
            <a:spLocks noGrp="1"/>
          </p:cNvSpPr>
          <p:nvPr/>
        </p:nvSpPr>
        <p:spPr>
          <a:xfrm>
            <a:off x="4667250" y="3333750"/>
            <a:ext cx="2047875" cy="266700"/>
          </a:xfrm>
          <a:prstGeom prst="rightArrow">
            <a:avLst/>
          </a:prstGeom>
          <a:solidFill>
            <a:srgbClr val="1880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00338FA-857A-48B1-B709-35E367F979AA}"/>
              </a:ext>
            </a:extLst>
          </p:cNvPr>
          <p:cNvSpPr>
            <a:spLocks noGrp="1"/>
          </p:cNvSpPr>
          <p:nvPr/>
        </p:nvSpPr>
        <p:spPr>
          <a:xfrm>
            <a:off x="533400" y="1657350"/>
            <a:ext cx="111252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22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22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Docker Compose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8ED1CE8-4FA0-4FBA-9445-94FDA23E6318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111252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55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55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Red interna, proxy si hace falta y puertos mínimos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F888065-FE8B-4A36-AAAC-0D42F0D65737}"/>
              </a:ext>
            </a:extLst>
          </p:cNvPr>
          <p:cNvSpPr>
            <a:spLocks noGrp="1"/>
          </p:cNvSpPr>
          <p:nvPr/>
        </p:nvSpPr>
        <p:spPr>
          <a:xfrm>
            <a:off x="533400" y="5562600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Secretos al ejecutar · Cero servicios de datos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AWS EC2 + Docker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24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8B855CA-6F98-486E-B92E-6230B7C4DA30}"/>
              </a:ext>
            </a:extLst>
          </p:cNvPr>
          <p:cNvSpPr>
            <a:spLocks noGrp="1"/>
          </p:cNvSpPr>
          <p:nvPr/>
        </p:nvSpPr>
        <p:spPr>
          <a:xfrm>
            <a:off x="533400" y="1771650"/>
            <a:ext cx="54292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60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60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Una instancia Linux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714FB20-173E-44D6-84DB-5EC677C6002A}"/>
              </a:ext>
            </a:extLst>
          </p:cNvPr>
          <p:cNvSpPr>
            <a:spLocks noGrp="1"/>
          </p:cNvSpPr>
          <p:nvPr/>
        </p:nvSpPr>
        <p:spPr>
          <a:xfrm>
            <a:off x="533400" y="288607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Docker + Compose para App 2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EA259C7-394F-4916-B9C9-46AC2FA16AAE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HTTPS y origen Clerk configurados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C1CC608-B7EB-4F80-BE44-F99341BC4D09}"/>
              </a:ext>
            </a:extLst>
          </p:cNvPr>
          <p:cNvSpPr>
            <a:spLocks noGrp="1"/>
          </p:cNvSpPr>
          <p:nvPr/>
        </p:nvSpPr>
        <p:spPr>
          <a:xfrm>
            <a:off x="533400" y="4657725"/>
            <a:ext cx="5429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4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SSH restringido y retirada de recursos</a:t>
            </a:r>
          </a:p>
        </p:txBody>
      </p:sp>
      <p:pic>
        <p:nvPicPr>
          <p:cNvPr id="28" name="Imagen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El despliegue de App 2 en EC2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25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863F541-3A72-45E4-BA67-55948F2D43C1}"/>
              </a:ext>
            </a:extLst>
          </p:cNvPr>
          <p:cNvSpPr>
            <a:spLocks noGrp="1"/>
          </p:cNvSpPr>
          <p:nvPr/>
        </p:nvSpPr>
        <p:spPr>
          <a:xfrm>
            <a:off x="533400" y="1704975"/>
            <a:ext cx="52578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3150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3150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Una instancia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0E216D-F5DF-4AA6-A92B-B44324FD18A9}"/>
              </a:ext>
            </a:extLst>
          </p:cNvPr>
          <p:cNvSpPr>
            <a:spLocks noGrp="1"/>
          </p:cNvSpPr>
          <p:nvPr/>
        </p:nvSpPr>
        <p:spPr>
          <a:xfrm>
            <a:off x="533400" y="2714625"/>
            <a:ext cx="5257800" cy="274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Dos contenedores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con Docker Compose</a:t>
            </a:r>
          </a:p>
          <a:p>
            <a:endParaRPr sz="2400" b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Acceso web HTTPS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y autenticación Clerk</a:t>
            </a:r>
          </a:p>
          <a:p>
            <a:endParaRPr sz="2400" b="0">
              <a:solidFill>
                <a:srgbClr val="222222"/>
              </a:solidFill>
              <a:latin typeface="Oswald"/>
              <a:ea typeface="Oswald"/>
              <a:cs typeface="Oswald"/>
            </a:endParaRP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FastAPI conserva</a:t>
            </a:r>
          </a:p>
          <a:p>
            <a:pPr>
              <a:buNone/>
              <a:defRPr sz="24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4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la clave privada de IA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3A5163B-8A3C-4E0A-A3B4-708595910113}"/>
              </a:ext>
            </a:extLst>
          </p:cNvPr>
          <p:cNvSpPr>
            <a:spLocks noGrp="1"/>
          </p:cNvSpPr>
          <p:nvPr/>
        </p:nvSpPr>
        <p:spPr>
          <a:xfrm>
            <a:off x="533400" y="5695950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buNone/>
              <a:defRPr sz="240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40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Sin servicios de datos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515100" y="1362075"/>
            <a:ext cx="48768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Entrega previa a la exposición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26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8FFB724-AADA-4D19-9AA2-D24CDA2974C3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Repositorio y versión de entrega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145D5A-2E5B-44DB-B3F9-5B8FE6DF7AFD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ERS, pruebas y artefactos Spec Kit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A605632-34EE-4BAC-8D99-9240A7351E87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Documentación, URLs y comparativa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4BA865C-3957-4EF2-B1EF-8E5DB819CFB7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PowerPoint propio del grupo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Evaluación de la práctica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27 / 30</a:t>
            </a:r>
          </a:p>
        </p:txBody>
      </p:sp>
      <p:graphicFrame>
        <p:nvGraphicFramePr>
          <p:cNvPr id="22" name="Tabla 21"/>
          <p:cNvGraphicFramePr/>
          <p:nvPr/>
        </p:nvGraphicFramePr>
        <p:xfrm>
          <a:off x="533400" y="1571625"/>
          <a:ext cx="11125200" cy="4229104"/>
        </p:xfrm>
        <a:graphic>
          <a:graphicData uri="http://schemas.openxmlformats.org/drawingml/2006/table">
            <a:tbl>
              <a:tblPr/>
              <a:tblGrid>
                <a:gridCol w="919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Criterio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Oswald"/>
                          <a:ea typeface="Oswald"/>
                          <a:cs typeface="Oswald"/>
                        </a:rPr>
                        <a:t>Peso</a:t>
                      </a:r>
                    </a:p>
                  </a:txBody>
                  <a:tcPr anchor="ctr">
                    <a:solidFill>
                      <a:srgbClr val="5966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ERS y análisis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15%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Aplicación 1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20%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Calidad técnica, tests y Git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15%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App 2, Spec Kit e IA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15%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Vercel, Clerk, Docker y AWS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15%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Documentación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10%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Exposición, demo y defensa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22222"/>
                          </a:solidFill>
                          <a:latin typeface="Oswald"/>
                          <a:ea typeface="Oswald"/>
                          <a:cs typeface="Oswald"/>
                        </a:rPr>
                        <a:t>10%</a:t>
                      </a:r>
                    </a:p>
                  </a:txBody>
                  <a:tcPr anchor="ctr">
                    <a:solidFill>
                      <a:srgbClr val="EA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Rectángulo 15">
            <a:extLst>
              <a:ext uri="{FF2B5EF4-FFF2-40B4-BE49-F238E27FC236}">
                <a16:creationId xmlns:a16="http://schemas.microsoft.com/office/drawing/2014/main" id="{81AFCC76-3F61-442B-B2AB-C8A5ADEA92DD}"/>
              </a:ext>
            </a:extLst>
          </p:cNvPr>
          <p:cNvSpPr>
            <a:spLocks noGrp="1"/>
          </p:cNvSpPr>
          <p:nvPr/>
        </p:nvSpPr>
        <p:spPr>
          <a:xfrm>
            <a:off x="533400" y="5905500"/>
            <a:ext cx="111252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950" b="1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1950" b="1">
                <a:solidFill>
                  <a:srgbClr val="E91D63"/>
                </a:solidFill>
                <a:latin typeface="Oswald"/>
                <a:ea typeface="Oswald"/>
                <a:cs typeface="Oswald"/>
              </a:rPr>
              <a:t>Total: 100%     Rúbrica detallada y niveles de logro en el enunciado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Demo y defensa de todos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28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5CE887-FBB8-48FE-975A-BE0B28BB51E8}"/>
              </a:ext>
            </a:extLst>
          </p:cNvPr>
          <p:cNvSpPr>
            <a:spLocks noGrp="1"/>
          </p:cNvSpPr>
          <p:nvPr/>
        </p:nvSpPr>
        <p:spPr>
          <a:xfrm>
            <a:off x="533400" y="19526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Entrada válida y un error controlado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C1F58C6-AA6F-4C65-992D-C0E64E2D3A6B}"/>
              </a:ext>
            </a:extLst>
          </p:cNvPr>
          <p:cNvSpPr>
            <a:spLocks noGrp="1"/>
          </p:cNvSpPr>
          <p:nvPr/>
        </p:nvSpPr>
        <p:spPr>
          <a:xfrm>
            <a:off x="533400" y="283845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Clerk: acceso y rechazo sin token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1FE5718-18DE-499F-8CD2-318F46FF6B21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Vercel y App 2 funcionando en EC2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961E891-2A5F-468A-A237-9893974F91D9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Una prueba, un commit y una decisión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B1EBFD0C-21C3-49DD-9A23-A007CB10E3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00150"/>
          </a:xfrm>
          <a:prstGeom prst="rect">
            <a:avLst/>
          </a:prstGeom>
          <a:solidFill>
            <a:srgbClr val="E69138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AEBCC20-C1D4-475A-9388-F2718DE14292}"/>
              </a:ext>
            </a:extLst>
          </p:cNvPr>
          <p:cNvSpPr>
            <a:spLocks noGrp="1"/>
          </p:cNvSpPr>
          <p:nvPr/>
        </p:nvSpPr>
        <p:spPr>
          <a:xfrm>
            <a:off x="533400" y="295275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345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Antes de entregar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9C913D8-1794-48C7-809C-577999202D59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UD1 · Mini aplicación con IA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5F161DD-1CE7-471B-9FC1-4BE174055457}"/>
              </a:ext>
            </a:extLst>
          </p:cNvPr>
          <p:cNvSpPr>
            <a:spLocks noGrp="1"/>
          </p:cNvSpPr>
          <p:nvPr/>
        </p:nvSpPr>
        <p:spPr>
          <a:xfrm>
            <a:off x="10858500" y="63912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1275" b="0">
                <a:solidFill>
                  <a:srgbClr val="777777"/>
                </a:solidFill>
                <a:latin typeface="Oswald"/>
                <a:ea typeface="Oswald"/>
                <a:cs typeface="Oswald"/>
              </a:defRPr>
            </a:pPr>
            <a:r>
              <a:rPr sz="1275" b="0">
                <a:solidFill>
                  <a:srgbClr val="777777"/>
                </a:solidFill>
                <a:latin typeface="Oswald"/>
                <a:ea typeface="Oswald"/>
                <a:cs typeface="Oswald"/>
              </a:rPr>
              <a:t>29 / 30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E5FB491-5EAC-4C53-9508-0B7D7837C369}"/>
              </a:ext>
            </a:extLst>
          </p:cNvPr>
          <p:cNvSpPr>
            <a:spLocks noGrp="1"/>
          </p:cNvSpPr>
          <p:nvPr/>
        </p:nvSpPr>
        <p:spPr>
          <a:xfrm>
            <a:off x="533400" y="186690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Una pantalla, un formulario y cero persistencia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E92427C-E83D-4ABD-AD42-23732B2E98AB}"/>
              </a:ext>
            </a:extLst>
          </p:cNvPr>
          <p:cNvSpPr>
            <a:spLocks noGrp="1"/>
          </p:cNvSpPr>
          <p:nvPr/>
        </p:nvSpPr>
        <p:spPr>
          <a:xfrm>
            <a:off x="533400" y="275272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Ambas apps probadas y documentadas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5069EFA-59AE-437E-9927-5C67FEAE94C3}"/>
              </a:ext>
            </a:extLst>
          </p:cNvPr>
          <p:cNvSpPr>
            <a:spLocks noGrp="1"/>
          </p:cNvSpPr>
          <p:nvPr/>
        </p:nvSpPr>
        <p:spPr>
          <a:xfrm>
            <a:off x="533400" y="3638550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222222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222222"/>
                </a:solidFill>
                <a:latin typeface="Oswald"/>
                <a:ea typeface="Oswald"/>
                <a:cs typeface="Oswald"/>
              </a:rPr>
              <a:t>Despliegues y secretos revisados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29882A2-E5FB-41B1-A959-4AE22122B296}"/>
              </a:ext>
            </a:extLst>
          </p:cNvPr>
          <p:cNvSpPr>
            <a:spLocks noGrp="1"/>
          </p:cNvSpPr>
          <p:nvPr/>
        </p:nvSpPr>
        <p:spPr>
          <a:xfrm>
            <a:off x="533400" y="4524375"/>
            <a:ext cx="111252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54000" indent="-152400">
              <a:spcAft>
                <a:spcPts val="0"/>
              </a:spcAft>
              <a:buChar char="▪"/>
              <a:defRPr sz="2700" b="0">
                <a:solidFill>
                  <a:srgbClr val="E91D63"/>
                </a:solidFill>
                <a:latin typeface="Oswald"/>
                <a:ea typeface="Oswald"/>
                <a:cs typeface="Oswald"/>
              </a:defRPr>
            </a:pPr>
            <a:r>
              <a:rPr sz="2700" b="0">
                <a:solidFill>
                  <a:srgbClr val="E91D63"/>
                </a:solidFill>
                <a:latin typeface="Oswald"/>
                <a:ea typeface="Oswald"/>
                <a:cs typeface="Oswald"/>
              </a:rPr>
              <a:t>Cada integrante comprende el proyecto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AE0D5BC-5241-4281-B026-A24448AE9DCE}"/>
              </a:ext>
            </a:extLst>
          </p:cNvPr>
          <p:cNvSpPr>
            <a:spLocks noGrp="1"/>
          </p:cNvSpPr>
          <p:nvPr/>
        </p:nvSpPr>
        <p:spPr>
          <a:xfrm>
            <a:off x="533400" y="5753100"/>
            <a:ext cx="111252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buNone/>
              <a:defRPr sz="2325" b="1">
                <a:solidFill>
                  <a:srgbClr val="188038"/>
                </a:solidFill>
                <a:latin typeface="Oswald"/>
                <a:ea typeface="Oswald"/>
                <a:cs typeface="Oswald"/>
              </a:defRPr>
            </a:pPr>
            <a:r>
              <a:rPr sz="2325" b="1">
                <a:solidFill>
                  <a:srgbClr val="188038"/>
                </a:solidFill>
                <a:latin typeface="Oswald"/>
                <a:ea typeface="Oswald"/>
                <a:cs typeface="Oswald"/>
              </a:rPr>
              <a:t>Entrega previa y defensa de todos</a:t>
            </a:r>
          </a:p>
        </p:txBody>
      </p:sp>
    </p:spTree>
    <p:extLst>
      <p:ext uri="{BB962C8B-B14F-4D97-AF65-F5344CB8AC3E}">
        <p14:creationId xmlns:p14="http://schemas.microsoft.com/office/powerpoint/2010/main" val="514057954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9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39B2188-8840-4DA2-B76B-0C81A2855E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52500" b="1">
                <a:solidFill>
                  <a:srgbClr val="FFFFFF"/>
                </a:solidFill>
                <a:latin typeface="Oswald"/>
                <a:ea typeface="Oswald"/>
                <a:cs typeface="Oswald"/>
              </a:defRPr>
            </a:pPr>
            <a:r>
              <a:rPr sz="52500" b="1">
                <a:solidFill>
                  <a:srgbClr val="FFFFFF"/>
                </a:solidFill>
                <a:latin typeface="Oswald"/>
                <a:ea typeface="Oswald"/>
                <a:cs typeface="Oswald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5943989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Microsoft Office PowerPoint</Application>
  <DocSecurity>0</DocSecurity>
  <PresentationFormat>Panorámica</PresentationFormat>
  <Paragraphs>344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3" baseType="lpstr">
      <vt:lpstr>Calibri</vt:lpstr>
      <vt:lpstr>Oswald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</cp:lastModifiedBy>
  <cp:revision>1</cp:revision>
  <dcterms:created xsi:type="dcterms:W3CDTF">2026-10-06T15:25:38Z</dcterms:created>
  <dcterms:modified xsi:type="dcterms:W3CDTF">2026-10-06T19:50:30Z</dcterms:modified>
</cp:coreProperties>
</file>